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200" b="1">
                <a:solidFill>
                  <a:srgbClr val="2563EB"/>
                </a:solidFill>
                <a:latin typeface="Inter"/>
              </a:defRPr>
            </a:pPr>
            <a:r>
              <a:t>EVALUASI INFRASTRUKTUR DATA</a:t>
            </a:r>
          </a:p>
          <a:p>
            <a:pPr algn="ctr">
              <a:spcAft>
                <a:spcPts val="1000"/>
              </a:spcAft>
              <a:defRPr sz="4000" b="1">
                <a:solidFill>
                  <a:srgbClr val="0F172A"/>
                </a:solidFill>
                <a:latin typeface="Inter"/>
              </a:defRPr>
            </a:pPr>
            <a:r>
              <a:t>Laporan PoC BI: Evaluasi Apache Superset</a:t>
            </a:r>
          </a:p>
          <a:p>
            <a:pPr algn="ctr">
              <a:spcAft>
                <a:spcPts val="3000"/>
              </a:spcAft>
              <a:defRPr sz="1600">
                <a:solidFill>
                  <a:srgbClr val="475569"/>
                </a:solidFill>
                <a:latin typeface="Inter"/>
              </a:defRPr>
            </a:pPr>
            <a:r>
              <a:t>Analisis komprehensif arsitektur, kapasitas resource, komparasi platform, dan langkah optimasi praktis</a:t>
            </a:r>
          </a:p>
          <a:p>
            <a:pPr algn="ctr">
              <a:defRPr sz="1200">
                <a:solidFill>
                  <a:srgbClr val="2563EB"/>
                </a:solidFill>
                <a:latin typeface="Inter"/>
              </a:defRPr>
            </a:pPr>
            <a:r>
              <a:t>11 Juni 2026  |  Status: Evaluasi Selesai  |  Tim Analis Antigravity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PENGENALAN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Pendahuluan: Apache Superset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Apache Superset adalah platform visualisasi data modern, cepat, dan tangguh untuk menampilkan visualisasi interaktif dari data mentah/olahan. Mendukung konektivitas luas via SQLAlchemy.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12064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  <a:latin typeface="Inter"/>
              </a:defRPr>
            </a:pPr>
            <a:r>
              <a:t>Eksplorasi &amp; Query Data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SQL Lab: IDE query interaktif terintegrasi untuk merancang query SQL mentah langsung ke database.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Query to Dataset: Mengubah hasil analisis SQL Lab secara langsung menjadi dataset siap pakai.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Upload Data CSV: Kemampuan import file data lokal langsung ke penyimpanan database yang terkoneksi.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377440"/>
            <a:ext cx="5120640" cy="36576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  <a:latin typeface="Inter"/>
              </a:defRPr>
            </a:pPr>
            <a:r>
              <a:t>Kolaborasi &amp; Aksesibilitas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Keamanan Granular: Pembagian dashboard, chart, dataset, dan koneksi berdasarkan User, Role, maupun Group.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Sharing &amp; Embedding: Integrasi grafik via embeddable iframe serta berbagi tautan dashboard berizin khusus.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Export Multi-Format: Mengunduh data hasil visualisasi ke CSV, Excel, Image PNG, dan PDF.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PILIHAN DESAIN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Dua Pilihan Desain Arsitektur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DC2626"/>
                </a:solidFill>
                <a:latin typeface="Inter"/>
              </a:defRPr>
            </a:pPr>
            <a:r>
              <a:t>Konsep 1: Enterprise Full-Stack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Heavyweight &amp; Terpadu: Mengintegrasikan sinkronisasi otomatis CDC (Change Data Capture) dan caching berlapis.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Semantic Layer Global (Cube.js): Definisi labeling data dan logika metrik terpusat untuk multi-BI tool.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Antrean Tugas Asinkron (Celery + Redis): Menghindari UI freeze/timeout dengan query di latar belakang.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Rekomendasi: Lingkungan produksi skala besar dengan resources memadai (RAM &gt;= 16GB).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59669"/>
                </a:solidFill>
                <a:latin typeface="Inter"/>
              </a:defRPr>
            </a:pPr>
            <a:r>
              <a:t>Konsep 2: Minimalist Setup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Lightweight &amp; Efisien: Memangkas seluruh komponen perantara demi efisiensi resource local dev.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Setup Instan: Hanya membutuhkan 2 container utama (Superset App + ClickHouse Server) setelah inisialisasi.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Query Langsung: ClickHouse mengompresi data kolom secara agresif untuk query analitis cepat.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Keterbatasan: Tanpa queue asinkron, rawan UI freeze &amp; fitur Alerts/Reports tidak berfungsi.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Rekomendasi: Fase PoC / pengujian batas lokal (RAM idle hemat ~1GB).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KONSEP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Pipeline Data Konsep 1 (Enterprise Full-Stack)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82880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0F172A"/>
                </a:solidFill>
                <a:latin typeface="Inter"/>
              </a:defRPr>
            </a:pPr>
            <a:r>
              <a:t>PostgreSQL (OLTP)</a:t>
            </a:r>
          </a:p>
          <a:p>
            <a:pPr algn="ctr">
              <a:defRPr sz="900">
                <a:solidFill>
                  <a:srgbClr val="475569"/>
                </a:solidFill>
                <a:latin typeface="Inter"/>
              </a:defRPr>
            </a:pPr>
            <a:r>
              <a:t>Sumber Transaksi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28600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1828800" cy="10972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PeerDB (CDC)</a:t>
            </a:r>
          </a:p>
          <a:p>
            <a:pPr algn="ctr">
              <a:defRPr sz="900">
                <a:solidFill>
                  <a:srgbClr val="F1F5F9"/>
                </a:solidFill>
                <a:latin typeface="Inter"/>
              </a:defRPr>
            </a:pPr>
            <a:r>
              <a:t>Staging via MinIO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28600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011680"/>
            <a:ext cx="182880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0F172A"/>
                </a:solidFill>
                <a:latin typeface="Inter"/>
              </a:defRPr>
            </a:pPr>
            <a:r>
              <a:t>ClickHouse (OLAP)</a:t>
            </a:r>
          </a:p>
          <a:p>
            <a:pPr algn="ctr">
              <a:defRPr sz="900">
                <a:solidFill>
                  <a:srgbClr val="475569"/>
                </a:solidFill>
                <a:latin typeface="Inter"/>
              </a:defRPr>
            </a:pPr>
            <a:r>
              <a:t>Columnar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28600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2011680"/>
            <a:ext cx="1828800" cy="10972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Cube.js (Semantic)</a:t>
            </a:r>
          </a:p>
          <a:p>
            <a:pPr algn="ctr">
              <a:defRPr sz="900">
                <a:solidFill>
                  <a:srgbClr val="F1F5F9"/>
                </a:solidFill>
                <a:latin typeface="Inter"/>
              </a:defRPr>
            </a:pPr>
            <a:r>
              <a:t>Semantic &amp; Pre-Agg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8600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011680"/>
            <a:ext cx="182880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0F172A"/>
                </a:solidFill>
                <a:latin typeface="Inter"/>
              </a:defRPr>
            </a:pPr>
            <a:r>
              <a:t>Superset (BI)</a:t>
            </a:r>
          </a:p>
          <a:p>
            <a:pPr algn="ctr">
              <a:defRPr sz="900">
                <a:solidFill>
                  <a:srgbClr val="475569"/>
                </a:solidFill>
                <a:latin typeface="Inter"/>
              </a:defRPr>
            </a:pPr>
            <a:r>
              <a:t>Render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Inter"/>
              </a:defRPr>
            </a:pPr>
            <a:r>
              <a:t>Detail Alur Proses: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CDC Otomatis: PeerDB membaca log transaksi PostgreSQL secara visual &amp; minim script manual.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Staging MinIO: MinIO bertindak sebagai storage staging penampung file CSV temporal untuk optimasi bulk copy.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Semantic Layer &amp; Pre-aggregations: Cube.js menyatukan standar definisi metrik bisnis &amp; caching tingkat lanjut.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Worker &amp; Cache: Redis/Celery memproses render laporan di background agar antarmuka web Superset lancar.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KONSEP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Pipeline Data Konsep 2 (Minimalist Setup)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1945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0F172A"/>
                </a:solidFill>
                <a:latin typeface="Inter"/>
              </a:defRPr>
            </a:pPr>
            <a:r>
              <a:t>Data Source (OLTP)</a:t>
            </a:r>
          </a:p>
          <a:p>
            <a:pPr algn="ctr">
              <a:defRPr sz="900">
                <a:solidFill>
                  <a:srgbClr val="475569"/>
                </a:solidFill>
                <a:latin typeface="Inter"/>
              </a:defRPr>
            </a:pPr>
            <a:r>
              <a:t>Sumber Transaksi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86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5966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011680"/>
            <a:ext cx="2194560" cy="10972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Custom Python Script</a:t>
            </a:r>
          </a:p>
          <a:p>
            <a:pPr algn="ctr">
              <a:defRPr sz="900">
                <a:solidFill>
                  <a:srgbClr val="F1F5F9"/>
                </a:solidFill>
                <a:latin typeface="Inter"/>
              </a:defRPr>
            </a:pPr>
            <a:r>
              <a:t>Direct Bulk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286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5966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21945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0F172A"/>
                </a:solidFill>
                <a:latin typeface="Inter"/>
              </a:defRPr>
            </a:pPr>
            <a:r>
              <a:t>ClickHouse (OLAP)</a:t>
            </a:r>
          </a:p>
          <a:p>
            <a:pPr algn="ctr">
              <a:defRPr sz="900">
                <a:solidFill>
                  <a:srgbClr val="475569"/>
                </a:solidFill>
                <a:latin typeface="Inter"/>
              </a:defRPr>
            </a:pPr>
            <a:r>
              <a:t>Flat Tables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59669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011680"/>
            <a:ext cx="2194560" cy="10972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Superset (BI)</a:t>
            </a:r>
          </a:p>
          <a:p>
            <a:pPr algn="ctr">
              <a:defRPr sz="900">
                <a:solidFill>
                  <a:srgbClr val="F1F5F9"/>
                </a:solidFill>
                <a:latin typeface="Inter"/>
              </a:defRPr>
            </a:pPr>
            <a:r>
              <a:t>SQLite Metadata &amp;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Inter"/>
              </a:defRPr>
            </a:pPr>
            <a:r>
              <a:t>Detail Alur Proses &amp; Batasan: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Custom Script ETL: Memindahkan data transaksional ke database analitik menggunakan scripting terjadwal.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Direct Querying ClickHouse: Visualisasi Superset menembak langsung database analitik ClickHouse.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Keterbatasan SQLite: Menggunakan SQLite lokal rentan 'Database Locked' jika diakses multi-user bersamaan.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  <a:latin typeface="Inter"/>
              </a:defRPr>
            </a:pPr>
            <a:r>
              <a:t>• Tanpa Antrean Asinkron: Eksekusi query berat secara langsung berisiko memicu Gunicorn 504 Timeout.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ANALISIS TEKNIS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Matriks Perbandingan Arsitektur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Aspek Evaluasi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Konsep 1: Enterprise Full-Stack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Konsep 2: Minimalist Setup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Beban Resource (RAM/CPU)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Rawan Melonjak (Beban idle &amp; ETL CDC tinggi, rawan crash pada RAM 8GB)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Ringan (RAM idle ~1GB, jauh lebih stabil untuk local dev)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Metrik Bisnis &amp; Labeling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Tersentralisasi via Cube.js (Satu deklarasi untuk seluruh tool BI)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Lokal per Dataset (Konfigurasi manual dalam metadata Superset)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Stabilitas Konkurensi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Tinggi (Metadata menggunakan PostgreSQL &amp; dilindungi cache Redis)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Rendah (SQLite rentan terblokir / 'Database Locked' saat multi-user)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Penyimpanan 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Rawan Bengkak (Storage staging MinIO &amp; pre-aggregations Cube.js)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Sangat Hemat (Hanya database analitik terkompresi ClickHouse)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Rekomendasi Lingkungan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Server Linux Produksi / Kubernetes (K8s) (RAM &gt;= 16GB)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Fase PoC / Uji Batas Lokal / VM Tim Kecil (RAM 8GB)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KAPASITAS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Estimasi Kebutuhan Memori (RAM)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DC2626"/>
                </a:solidFill>
                <a:latin typeface="Inter"/>
              </a:defRPr>
            </a:pPr>
            <a:r>
              <a:t>Konsep 1 (Full-Feature - 14 Container)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superset-app: ~300 - 500 MB (idle)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clickhouse-server: ~500 MB - 1 GB (idle)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celery-worker: ~200 - 400 MB (idle)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cube-core: ~300 - 600 MB (idle)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peerdb-server &amp; flow-worker: ~400 - 900 MB (idle)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Lainnya (MinIO, Postgres, Redis): ~500 MB</a:t>
            </a:r>
          </a:p>
          <a:p>
            <a:pPr>
              <a:spcBef>
                <a:spcPts val="1400"/>
              </a:spcBef>
              <a:defRPr sz="1300" b="1">
                <a:solidFill>
                  <a:srgbClr val="DC2626"/>
                </a:solidFill>
                <a:latin typeface="Inter"/>
              </a:defRPr>
            </a:pPr>
            <a:r>
              <a:t>TOTAL ESTIMASI RAM IDLE: ~2.5 - 4.5 GB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059669"/>
                </a:solidFill>
                <a:latin typeface="Inter"/>
              </a:defRPr>
            </a:pPr>
            <a:r>
              <a:t>Konsep 2 (Minimalis - 2-6 Container)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superset-app: ~300 - 500 MB (idle)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clickhouse-server: ~500 MB - 1 GB (idle)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postgres (Metadata eksternal): ~50 - 100 MB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redis (Cache hasil chart): ~30 - 50 MB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celery-worker &amp; beat (Asinkron): ~250 - 500 MB</a:t>
            </a:r>
          </a:p>
          <a:p>
            <a:pPr>
              <a:spcBef>
                <a:spcPts val="2800"/>
              </a:spcBef>
              <a:defRPr sz="1300" b="1">
                <a:solidFill>
                  <a:srgbClr val="059669"/>
                </a:solidFill>
                <a:latin typeface="Inter"/>
              </a:defRPr>
            </a:pPr>
            <a:r>
              <a:t>TOTAL RAM IDLE (INTI): ~800 MB - 1.5 GB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KOMPARASI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Apache Superset vs Power BI Desktop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Kriteria Evaluasi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Apache Superset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Power BI Desktop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Akses &amp;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Berbasis Web (Cloud-native). Dapat diakses dari mana saja via web browser.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Aplikasi Desktop khusus Windows. OS lain butuh VM.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Konektivitas &amp;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Koneksi langsung via SQLAlchemy. Ramah kueri besar.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Driver ODBC khusus atau model data impor lokal.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Semantic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Tipis (biasa dipasangkan dengan dbt atau Cube.js).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Sangat matang. Menggunakan formula DAX &amp; model tabular.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Beban Klien Lokal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Sangat Ringan (proses dijalankan sepenuhnya di server).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Berat (proses visualisasi &amp; memori RAM dibebankan ke lokal).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Kolaborasi &amp; Lisensi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Open-source (Gratis). Berbagi dashboard tanpa biaya lisensi.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Inter"/>
                        </a:defRPr>
                      </a:pPr>
                      <a:r>
                        <a:t>Pembuatan lokal gratis, berbagi via cloud butuh lisensi Pro/Premium.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STRATEGI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Rekomendasi A: Strategi Fase PoC &amp; Produksi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D97706"/>
                </a:solidFill>
                <a:latin typeface="Inter"/>
              </a:defRPr>
            </a:pPr>
            <a:r>
              <a:t>Mengapa Konsep 1 Ditunda di Fase PoC Lokal?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Tujuan Pengujian Batas (Stress Test): Menggunakan spesifikasi minim (i3, RAM 8GB) untuk memetakan batasan kritis.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Rawan Lonjakan Resource: Konsep 1 dengan 14 container mengonsumsi memori idle yang sangat tinggi (&gt;50% RAM).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Potensi Crash: Aktivitas sinkronisasi CDC (PeerDB) bersamaan kueri analitis terbukti rentan memicu crash memori.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2563EB"/>
                </a:solidFill>
                <a:latin typeface="Inter"/>
              </a:defRPr>
            </a:pPr>
            <a:r>
              <a:t>Konsep 1 Sebagai Target Produksi Utama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Infrastruktur Server Linux Produksi: Menjadi target utama menggunakan Docker CLI atau Kubernetes (K8s) dengan resources berlimpah.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Solusi Komprehensif: Solusi terbaik jika internal organisasi belum memiliki pipeline ETL, CDC, maupun global semantic layer.</a:t>
            </a:r>
          </a:p>
          <a:p>
            <a:pPr>
              <a:spcAft>
                <a:spcPts val="800"/>
              </a:spcAft>
              <a:defRPr sz="1200">
                <a:solidFill>
                  <a:srgbClr val="475569"/>
                </a:solidFill>
                <a:latin typeface="Inter"/>
              </a:defRPr>
            </a:pPr>
            <a:r>
              <a:t>• Otomatisasi CDC Berkelanjutan: Replikasi data massal &amp; instan dari OLTP ke ClickHouse berjalan otomatis tanpa kode manual.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Inter"/>
              </a:defRPr>
            </a:pPr>
            <a:r>
              <a:t>OPTIMASI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Rekomendasi B: Solusi Hybrid Pengujian PoC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  <a:latin typeface="Inter"/>
              </a:defRPr>
            </a:pPr>
            <a:r>
              <a:t>B.1 Migrasi ke PostgreSQL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• Mengganti database internal SQLite dengan container PostgreSQL mandiri.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• Mengurangi risiko Database Locked saat mendesain dashboard multi-user.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• Mekanisme Write-Ahead Logging (WAL) memitigasi kerusakan data saat kontainer mati mendadak.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  <a:latin typeface="Inter"/>
              </a:defRPr>
            </a:pPr>
            <a:r>
              <a:t>B.2 Optimasi Dataset BI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• Dataset Labeling: Mengubah kolom database yang kaku menjadi teks ramah pengguna di tingkat dataset.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• Calculated Columns: Tulis logika rumus (misal: harga*qty) sekali saja di dataset SQL.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• Standardisasi Datetime: Menghindari bias representasi zona waktu pada visualisasi grafik.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  <a:latin typeface="Inter"/>
              </a:defRPr>
            </a:pPr>
            <a:r>
              <a:t>B.3 Optimasi ClickHouse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• ReplacingMergeTree Engine: Digunakan untuk menangani data transaksi yang statusnya dinamis (DML update).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• Partisi Tabel: Mempartisi data (misal per bulan/tahun) untuk mencegah full-table scans.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  <a:latin typeface="Inter"/>
              </a:defRPr>
            </a:pPr>
            <a:r>
              <a:t>• Mengurangi beban CPU ClickHouse secara signifikan saat filter dashboard dimuat.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5400" b="1">
                <a:solidFill>
                  <a:srgbClr val="2563EB"/>
                </a:solidFill>
                <a:latin typeface="Inter"/>
              </a:defRPr>
            </a:pPr>
            <a:r>
              <a:t>Terima Kasih</a:t>
            </a:r>
          </a:p>
          <a:p>
            <a:pPr algn="ctr">
              <a:spcAft>
                <a:spcPts val="2000"/>
              </a:spcAft>
              <a:defRPr sz="1800">
                <a:solidFill>
                  <a:srgbClr val="0F172A"/>
                </a:solidFill>
                <a:latin typeface="Inter"/>
              </a:defRPr>
            </a:pPr>
            <a:r>
              <a:t>Laporan PoC BI: Evaluasi Apache Superset</a:t>
            </a:r>
          </a:p>
          <a:p>
            <a:pPr algn="ctr">
              <a:defRPr sz="1400">
                <a:solidFill>
                  <a:srgbClr val="475569"/>
                </a:solidFill>
                <a:latin typeface="Inter"/>
              </a:defRPr>
            </a:pPr>
            <a:r>
              <a:t>Pertanyaan &amp; Diskusi Lanjutan Direkomendasikan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